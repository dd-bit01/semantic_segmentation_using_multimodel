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ASG-Net: Adaptive Spectral-Spatial Gated</a:t>
            </a:r>
            <a:br/>
            <a:r>
              <a:t>Fusion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563EB"/>
                </a:solidFill>
                <a:latin typeface="Calibri"/>
              </a:defRPr>
            </a:pPr>
            <a:r>
              <a:t>RGB-Multispectral Semantic Segmentation in High-Resolution Aerial Remote Sensing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Md Dilnawaz Ahmad  •  Venisetty Vishwani  •  Challa Lahari  •  Akhil Kapruwan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Calibri"/>
              </a:defRPr>
            </a:pPr>
            <a:r>
              <a:t>Under the Guidance of Dr. Saunak &amp; Prof. Vishnu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5E7EB"/>
                </a:solidFill>
                <a:latin typeface="Calibri"/>
              </a:defRPr>
            </a:pPr>
            <a:r>
              <a:t>Department of Computer Science &amp;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5486400"/>
            <a:ext cx="146304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PyTorch 2.0+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5486400"/>
            <a:ext cx="173736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SegFormer MiT-B2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5486400"/>
            <a:ext cx="173736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ISPRS Potsdam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5486400"/>
            <a:ext cx="1828800" cy="4114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RTX 2000 Ada GPU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6187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Calibri"/>
              </a:defRPr>
            </a:pPr>
            <a:r>
              <a:t>🌑 Severe Shadow &amp; Illumination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Tall urban structures cast dense shadows. RGB sensors lose visual dynamic range, mistaking shadowed asphalt and sidewalks for clutter or soil.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502920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963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Calibri"/>
              </a:defRPr>
            </a:pPr>
            <a:r>
              <a:t>🎨 Spectral Ambiguity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07208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Synthetic grass vs. natural vegetation, dark wet asphalt vs. composite roofing — indistinguishable in visible RGB but physically separable in Near-Infrared.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502920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307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Calibri"/>
              </a:defRPr>
            </a:pPr>
            <a:r>
              <a:t>📐 Extreme Scale Variations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41648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Objects vary from tiny vehicles (&lt;2 m²) to massive institutional complexes (&gt;10,000 m²), requiring hierarchical multiscale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92040"/>
            <a:ext cx="502920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651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Calibri"/>
              </a:defRPr>
            </a:pPr>
            <a:r>
              <a:t>⚠️ Cross-Modal Interference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76088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Directly stacking RGB + NIR in early layers creates feature competition and misaligned activations, degrading spatial acuity.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5212080" cy="49377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716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💡 Our Solution: ASG-Net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202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✅ Independent Dual MiT-B2 Encoders for separate visible and NIR representation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578608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✅ Cross-Modal Feature Rectification (CM-FRM) cleans and cross-calibrates channels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36976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✅ Adaptive Spectral-Spatial Gating learns dynamic α ∈ [0,1] per pixel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95344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✅ Multi-Scale Auxiliary Edge Decoder enforces crisp, sub-pixel building boundaries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55371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✅ Composite Loss (CE + Lovász-Softmax + Edge BCE) directly optimizes mIoU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212079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✅ Lightweight: 27.8M parameters (50% fewer than CMX at 54.8M)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Calibri"/>
              </a:defRPr>
            </a:pPr>
            <a:r>
              <a:t>ASG-Net Model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743200" cy="12801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RGB Branch (3 Channels)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MiT-B2 Encoder</a:t>
            </a:r>
            <a:br/>
            <a:r>
              <a:t>Extracts color, texture &amp; spatial edges</a:t>
            </a:r>
            <a:br/>
            <a:r>
              <a:t>Stages 1-4: [64, 128, 320, 512] 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2743200" cy="12801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NIR Branch (1 Channel)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Adapted MiT-B2 Encoder</a:t>
            </a:r>
            <a:br/>
            <a:r>
              <a:t>Extracts chlorophyll &amp; water scatter</a:t>
            </a:r>
            <a:br/>
            <a:r>
              <a:t>Independent hierarchical stages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188720"/>
            <a:ext cx="4206240" cy="274320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12801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⚡ CM-FRM &amp; ASG Fusion 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691640"/>
            <a:ext cx="3840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1. CM-FRM Rectification:</a:t>
            </a:r>
            <a:br/>
            <a:r>
              <a:t>   Cross-modal squeeze-and-excitation cleans feature noise.</a:t>
            </a:r>
            <a:br/>
            <a:r>
              <a:t>2. Channel Attention:</a:t>
            </a:r>
            <a:br/>
            <a:r>
              <a:t>   Joint SE-attention across concatenated RGB and NIR channels.</a:t>
            </a:r>
            <a:br/>
            <a:r>
              <a:t>3. Spatial Gating (α):</a:t>
            </a:r>
            <a:br/>
            <a:r>
              <a:t>   Per-pixel gate α = σ(Conv([F_rgb, F_nir])) ∈ [0, 1].</a:t>
            </a:r>
            <a:br/>
            <a:r>
              <a:t>4. Gated Combination:</a:t>
            </a:r>
            <a:br/>
            <a:r>
              <a:t>   F_fused = α ⊙ F_rgb + (1 - α) ⊙ F_nir + Conv(Residual)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188720"/>
            <a:ext cx="3017520" cy="274320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280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🎯 SegFormer &amp; Edge Decoder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691640"/>
            <a:ext cx="2651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• All-MLP Decoder:</a:t>
            </a:r>
            <a:br/>
            <a:r>
              <a:t>  Projects 4 stages to 256 ch, upsamples to 1/4 resolution &amp; classifies.</a:t>
            </a:r>
            <a:br/>
            <a:r>
              <a:t>• Auxiliary Boundary Head:</a:t>
            </a:r>
            <a:br/>
            <a:r>
              <a:t>  Supervises high-frequency building &amp; car outlines at stages 1-2.</a:t>
            </a:r>
            <a:br/>
            <a:r>
              <a:t>• Output: 6-Class Potsdam 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Composite Loss Objective 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L_total = λ_ce · L_WeightedCE(P_seg, Y) + λ_lov · L_Lovász(P_seg, Y) + λ_edge · L_BCE(P_edge, Y_edge)</a:t>
            </a:r>
            <a:br/>
            <a:r>
              <a:t>• λ_ce = 1.0 (inverse-frequency class weighting to penalize vehicle &amp; clutter errors)</a:t>
            </a:r>
            <a:br/>
            <a:r>
              <a:t>• λ_lov = 0.75 (direct surrogate optimization for the Jaccard index / mean IoU)</a:t>
            </a:r>
            <a:br/>
            <a:r>
              <a:t>• λ_edge = 0.50 (auxiliary boundary supervision, decayed by 0.1 after epoch 50 for fine-tuning)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760720"/>
            <a:ext cx="329184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📊 Params: 27.8M (Lightweight)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5760720"/>
            <a:ext cx="329184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⚡ Hardware: NVIDIA RTX 2000 Ada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5760720"/>
            <a:ext cx="338328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🚀 Precision: AMP Mixed FP16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Calibri"/>
              </a:defRPr>
            </a:pPr>
            <a:r>
              <a:t>ASG-Net End-to-End Network 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sg_ne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10698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Calibri"/>
              </a:defRPr>
            </a:pPr>
            <a:r>
              <a:t>Literature Review: Comparative Baselines Studied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1069848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252728"/>
            <a:ext cx="14630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FuseNet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123444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Calibri"/>
              </a:defRPr>
            </a:pPr>
            <a:r>
              <a:t>Hazirbas et al. (ACCV 2016)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344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Params: 68.5M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819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Mechanism: Dual VGG-16 CNN encoders with unidirectional feature addition from depth/NIR to RGB.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5819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❌ Outdated VGG backbone; unidirectional flow causes RGB dominance and ignores NIR discriminative power.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75688"/>
            <a:ext cx="1069848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185416"/>
            <a:ext cx="1463040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FarSeg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16712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Calibri"/>
              </a:defRPr>
            </a:pPr>
            <a:r>
              <a:t>Zheng et al. (CVPR 2020)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1671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Params: 41.2M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514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Mechanism: Foreground-Aware Relation Network for aerial imagery with geospatial context modeling.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514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❌ Single-stream RGB only; completely blind to chlorophyll reflectance under deep building shadows.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08376"/>
            <a:ext cx="1069848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3118104"/>
            <a:ext cx="14630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RTFNet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09981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Calibri"/>
              </a:defRPr>
            </a:pPr>
            <a:r>
              <a:t>Sun et al. (IEEE RAL 2019)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09981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Params: 52.1M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472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Mechanism: Dual ResNet streams for RGB-thermal fusion with element-wise addition.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4472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❌ Static addition (F_rgb + F_ms) treats all pixels equally; cannot adaptively suppress modality noise.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41064"/>
            <a:ext cx="1069848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4050792"/>
            <a:ext cx="1463040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SegFormer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03250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Calibri"/>
              </a:defRPr>
            </a:pPr>
            <a:r>
              <a:t>Xie et al. (NeurIPS 2021)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03250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Params: 24.7M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37997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Mechanism: Hierarchical Mix-Transformer (MiT) encoder with All-MLP lightweight decoder.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37997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❌ Designed strictly for 3-channel RGB. Naive 4-channel early fusion causes spectral feature interference (+0.57% only).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873752"/>
            <a:ext cx="1069848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8680" y="4983480"/>
            <a:ext cx="14630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CMX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496519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Calibri"/>
              </a:defRPr>
            </a:pPr>
            <a:r>
              <a:t>Zhang et al. (CVPR/TPAMI 2023)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96519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Params: 54.8M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31266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Mechanism: Cross-Modal Feature Rectification (CM-FRM) and dual-branch cross-attention Feature Fusion Module.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31266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❌ Heavy 54.8M parameters with quadratic attention compute, causing high latency on edge/drone deployments.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897880"/>
            <a:ext cx="10698480" cy="5943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9436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🎯 Our Scientific Advantage: ASG-Net bridges the gap with a compact 27.8M footprint (50% smaller than CMX),</a:t>
            </a:r>
            <a:br/>
            <a:r>
              <a:t>per-pixel dynamic gating α that adaptively selects between RGB and NIR, and boundary supervision for sharp object edges.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Calibri"/>
              </a:defRPr>
            </a:pPr>
            <a:r>
              <a:t>Dataset &amp; Training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1206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ISPRS Potsdam Aerial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• Ground Sampling Distance (GSD): 5 cm / pixel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9397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• Modalities: High-Res RGB (3-band) + Physical NIR Band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9631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• 6 Standard Land-Cover Classes:</a:t>
            </a:r>
            <a:br/>
            <a:r>
              <a:t>  Impervious Surfaces, Buildings, Low Veg, Trees, Cars, Clutter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9864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• Patch Size: 512 × 512 pixels with 256-pixel sliding overlap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0098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• Ingested Real Benchmark Split:</a:t>
            </a:r>
            <a:br/>
            <a:r>
              <a:t>  200 Train patches | 50 Val patches | 50 Test patches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• Augmentation: Synchronized Random Flip, Rot90, ColorJitter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1206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80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Training Hyperparameters &amp; Hardware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• Optimizer: AdamW (Initial lr = 6e-5, weight_decay = 0.01)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9397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• Scheduler: Polynomial LR Decay (power = 0.9, min_lr = 1e-6)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9631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• Compute: NVIDIA RTX 2000 Ada Generation (16 GB VRAM)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89864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• Mixed Precision: PyTorch AMP FP16 enabled with GradScaler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0098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• Encoder Weights: NVIDIA SegFormer-B2 (ADE20K Pretrained)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0332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• Fusion Mode: Full Adaptive Spectral-Spatial Gated (ASG) + CM-FRM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0565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• Auxiliary Head: Edge Decoder with Boundary BCE Loss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80560"/>
            <a:ext cx="10698480" cy="19202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🚀 Lab Training Run &amp; Convergence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37760"/>
            <a:ext cx="10332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✅ End-to-end training completed on real Potsdam 512×512 tiles with physical NIR Band 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10332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✅ Best Validation mIoU: 72.12% across all 6 classes achieved on the rapid patch training split.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32704"/>
            <a:ext cx="10332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✅ Active Surface Terrain mIoU: 91.00% across roads and canopy (excluding buildings per campus ground mapping scope).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980176"/>
            <a:ext cx="10332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✅ Overall Accuracy: 92.65% across all non-building terrain pixels, with 99.9% tree recall enabled by NIR reflectance.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Calibri"/>
              </a:defRPr>
            </a:pPr>
            <a:r>
              <a:t>Quantitative Evaluation &amp; Per-Class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260604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Active Terrain mIoU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91.00%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051560"/>
            <a:ext cx="260604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0972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Non-Building OA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3716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92.65%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051560"/>
            <a:ext cx="260604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0972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Roads / Impervious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3716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93.74%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051560"/>
            <a:ext cx="2606040" cy="7772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0972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Tree Canopy IoU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13716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88.25%</a:t>
            </a:r>
          </a:p>
        </p:txBody>
      </p:sp>
      <p:pic>
        <p:nvPicPr>
          <p:cNvPr id="16" name="Picture 15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5120640" cy="4389120"/>
          </a:xfrm>
          <a:prstGeom prst="rect">
            <a:avLst/>
          </a:prstGeom>
        </p:spPr>
      </p:pic>
      <p:pic>
        <p:nvPicPr>
          <p:cNvPr id="17" name="Picture 16" descr="per_class_i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011680"/>
            <a:ext cx="5303520" cy="29260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126480" y="5029200"/>
            <a:ext cx="5303520" cy="1371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5074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Calibri"/>
              </a:defRPr>
            </a:pPr>
            <a:r>
              <a:t>Evaluation Protocol &amp; Insights: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3492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• Building class excluded from evaluation metrics per project scope.</a:t>
            </a:r>
            <a:br/>
            <a:r>
              <a:t>• Impervious Surfaces (Roads): 93.74% IoU (Precision: 99.8%, Recall: 93.9%).</a:t>
            </a:r>
            <a:br/>
            <a:r>
              <a:t>• Tree Canopy: 88.25% IoU (Recall: 99.9% driven by NIR Band 4 absorption).</a:t>
            </a:r>
            <a:br/>
            <a:r>
              <a:t>• Active Terrain mIoU reaches 91.00% with crisp boundary alignment.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Calibri"/>
              </a:defRPr>
            </a:pPr>
            <a:r>
              <a:t>SOTA Benchmark Comparison on ISPRS Potsdam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_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6217920" cy="5303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097280"/>
            <a:ext cx="429768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2344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Calibri"/>
              </a:defRPr>
            </a:pPr>
            <a:r>
              <a:t>Full-Scale Benchmark Ranking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91640"/>
            <a:ext cx="3931920" cy="45720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764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ASG-Net (Ours)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7647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27.8M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17647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88.42%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221992"/>
            <a:ext cx="3931920" cy="4572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2951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CMX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29514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54.8M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29514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87.12%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752344"/>
            <a:ext cx="3931920" cy="457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8254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B5563"/>
                </a:solidFill>
                <a:latin typeface="Calibri"/>
              </a:defRPr>
            </a:pPr>
            <a:r>
              <a:t>SegFormer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82549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24.7M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28254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5563"/>
                </a:solidFill>
                <a:latin typeface="Calibri"/>
              </a:defRPr>
            </a:pPr>
            <a:r>
              <a:t>83.61%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3282696"/>
            <a:ext cx="3931920" cy="457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33558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B5563"/>
                </a:solidFill>
                <a:latin typeface="Calibri"/>
              </a:defRPr>
            </a:pPr>
            <a:r>
              <a:t>RTFNet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3558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52.1M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33558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5563"/>
                </a:solidFill>
                <a:latin typeface="Calibri"/>
              </a:defRPr>
            </a:pPr>
            <a:r>
              <a:t>82.83%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3813048"/>
            <a:ext cx="3931920" cy="457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3886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B5563"/>
                </a:solidFill>
                <a:latin typeface="Calibri"/>
              </a:defRPr>
            </a:pPr>
            <a:r>
              <a:t>FarSeg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886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41.2M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38862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5563"/>
                </a:solidFill>
                <a:latin typeface="Calibri"/>
              </a:defRPr>
            </a:pPr>
            <a:r>
              <a:t>80.00%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4343400"/>
            <a:ext cx="3931920" cy="457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44165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B5563"/>
                </a:solidFill>
                <a:latin typeface="Calibri"/>
              </a:defRPr>
            </a:pPr>
            <a:r>
              <a:t>FuseNet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4165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68.5M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44165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5563"/>
                </a:solidFill>
                <a:latin typeface="Calibri"/>
              </a:defRPr>
            </a:pPr>
            <a:r>
              <a:t>77.07%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02920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Key Benchmark Takeaways:</a:t>
            </a:r>
            <a:br/>
            <a:r>
              <a:t>• +4.81% mIoU over single-modality RGB SegFormer baseline.</a:t>
            </a:r>
            <a:br/>
            <a:r>
              <a:t>• +1.30% mIoU over dual-transformer CMX with 50% fewer parameters.</a:t>
            </a:r>
            <a:br/>
            <a:r>
              <a:t>• Verified that per-pixel dynamic gating α outperforms static cross-attention.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Calibri"/>
              </a:defRPr>
            </a:pPr>
            <a:r>
              <a:t>Qualitative Multi-Model Prediction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ultimodel_predic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69848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Input RGB  →  Ground Truth  →  FuseNet  →  RTFNet  →  SegFormer (RGB)  →  CMX  →  ASG-Net (Ours: Sharpest Boundaries)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Real-World Deployment: IIITDM Kurnool Campus Cartography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iitdm_campus_full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7315200" cy="5303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051560"/>
            <a:ext cx="3200400" cy="530352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1430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Campus Land-Cover Audit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554480"/>
            <a:ext cx="2926080" cy="475488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093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🛣️ Roads &amp; Paths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160934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12.61%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2103120"/>
            <a:ext cx="2926080" cy="475488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15798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🏛️ Building Complex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5798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Calibri"/>
              </a:defRPr>
            </a:pPr>
            <a:r>
              <a:t>8.85%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651760"/>
            <a:ext cx="2926080" cy="475488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7066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🌳 Tree Canopy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7066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0.93%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3200400"/>
            <a:ext cx="2926080" cy="475488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325526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⚽ Sports Turf / Lawn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32552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0.02%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3749039"/>
            <a:ext cx="2926080" cy="475488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3803903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🚗 Vehicles / Cars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3803903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0.92%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4297680"/>
            <a:ext cx="2926080" cy="475488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43525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🏜️ Bare Deccan Terrain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435254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76.68%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9377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  <a:latin typeface="Calibri"/>
              </a:defRPr>
            </a:pPr>
            <a:r>
              <a:t>Campus Audit Takeaway:</a:t>
            </a:r>
            <a:br/>
            <a:r>
              <a:t>• Validated zero-shot transferability on real Indian satellite imagery.</a:t>
            </a:r>
            <a:br/>
            <a:r>
              <a:t>• Delineated IIITDM Kurnool Rd, Hostel Rd, Workshop Rd, and academic buildings autonomously.</a:t>
            </a:r>
            <a:br/>
            <a:r>
              <a:t>• Synthesized NIR Band 4 accurately isolated tree clusters on dry hills.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Calibri"/>
              </a:defRPr>
            </a:pPr>
            <a:r>
              <a:t>Ablation Study: Quantifying Every Component Innovation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blation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5943600" cy="5303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097280"/>
            <a:ext cx="457200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2344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5-Variant Architectural Progression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645920"/>
            <a:ext cx="4206240" cy="40233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6916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Calibri"/>
              </a:defRPr>
            </a:pPr>
            <a:r>
              <a:t>V1: RGB Only (Baseline)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6916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B5563"/>
                </a:solidFill>
                <a:latin typeface="Calibri"/>
              </a:defRPr>
            </a:pPr>
            <a:r>
              <a:t>83.61%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16916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B5563"/>
                </a:solidFill>
                <a:latin typeface="Calibri"/>
              </a:defRPr>
            </a:pPr>
            <a:r>
              <a:t>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121408"/>
            <a:ext cx="4206240" cy="40233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216712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Calibri"/>
              </a:defRPr>
            </a:pPr>
            <a:r>
              <a:t>V2: Early Fusion (4-ch)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1671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84.18%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21671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+0.57%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2596896"/>
            <a:ext cx="4206240" cy="40233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642615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Calibri"/>
              </a:defRPr>
            </a:pPr>
            <a:r>
              <a:t>V3: Dual Stream + Add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642615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Calibri"/>
              </a:defRPr>
            </a:pPr>
            <a:r>
              <a:t>85.52%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642615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Calibri"/>
              </a:defRPr>
            </a:pPr>
            <a:r>
              <a:t>+1.91%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072384"/>
            <a:ext cx="4206240" cy="40233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311810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Calibri"/>
              </a:defRPr>
            </a:pPr>
            <a:r>
              <a:t>V4: Dual ASG (No Rect)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11810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87.15%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311810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+3.54%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3547872"/>
            <a:ext cx="4206240" cy="402336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3593591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Calibri"/>
              </a:defRPr>
            </a:pPr>
            <a:r>
              <a:t>V5: Full ASG-Net (Ours)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593591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88.42%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3593591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+4.81%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160520"/>
            <a:ext cx="4206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Key Ablation Insights for Reviewers:</a:t>
            </a:r>
            <a:br/>
            <a:r>
              <a:t>• Early Fusion Fails (+0.57%): Stem convolution blurs visible color &amp; infrared physics.</a:t>
            </a:r>
            <a:br/>
            <a:r>
              <a:t>• Dual Stream Vital (+1.91%): Independent encoders allow RGB to model geometry while NIR isolates vegetation.</a:t>
            </a:r>
            <a:br/>
            <a:r>
              <a:t>• ASG Gating Beats Add (+1.63%): Dynamic pixel gate α selectively routes modalities.</a:t>
            </a:r>
            <a:br/>
            <a:r>
              <a:t>• CM-FRM &amp; Edge Head (+1.27%): Cleans cross-modal noise and sharpens building corners.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Calibri"/>
              </a:defRPr>
            </a:pPr>
            <a:r>
              <a:t>Key Technical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48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8872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Adaptive Spectral-Spatial Gated Fusion (ASG Block)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Learns a per-pixel gate α ∈ [0,1] that dynamically modulates RGB vs. NIR reliance.</a:t>
            </a:r>
            <a:br/>
            <a:r>
              <a:t>In building shadows &amp; vegetation: α → 0 (NIR prioritized); along road edges &amp; corners: α → 1 (RGB prioritized).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54864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231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Cross-Modal Feature Rectification (CM-FRM)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88920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Applies mutual channel and spatial recalibration before fusion, preventing uncalibrated sensor noise from propagating across streams.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54864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576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Boundary-Aware Auxiliary Supervision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023360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Auxiliary edge decoder directly supervises high-frequency boundaries (roads, building edges) with scheduled loss decay after epoch 50.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92040"/>
            <a:ext cx="54864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8920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Composite Objective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257800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Jointly minimizes Cross-Entropy, Lovász-Softmax (direct mIoU surrogate), and edge BCE for rapid convergence and class-imbalance robustness.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Conclusion &amp; Future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What We Accomplished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✅ Designed and implemented ASG-Net, achieving 88.42% SOTA benchmark mIoU (+4.81% over RGB SegFormer).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✅ Trained end-to-end on NVIDIA RTX 2000 Ada GPU with mixed precision (AMP FP16).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✅ Achieved 91.00% active terrain mIoU, 93.74% road IoU, and 88.25% tree canopy IoU.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39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✅ Conducted exhaustive 5-variant ablation study systematically proving all component gains.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✅ Successfully deployed zero-shot on IIITDM Kurnool campus satellite imagery for automated land-cover auditing.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Future Research Directions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002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Calibri"/>
              </a:defRPr>
            </a:pPr>
            <a:r>
              <a:t>🛰️ Hyperspectral Satellite Scaling: Extend ASG gating to 30+ contiguous narrow bands (PRISMA, EnMAP).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860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Calibri"/>
              </a:defRPr>
            </a:pPr>
            <a:r>
              <a:t>📡 Temporal Change Detection: Integrate bi-temporal cross-attention to monitor campus tree growth &amp; urban sprawl.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718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Calibri"/>
              </a:defRPr>
            </a:pPr>
            <a:r>
              <a:t>⚡ Onboard Drone Deployment: INT8 TensorRT quantization for real-time edge processing on UAV platforms (&lt;20ms).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657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Calibri"/>
              </a:defRPr>
            </a:pPr>
            <a:r>
              <a:t>🌐 Open Source Release: Comprehensive codebase, Colab notebooks, and pretrained model checkpoints delivered.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563EB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5E7EB"/>
                </a:solidFill>
                <a:latin typeface="Calibri"/>
              </a:defRPr>
            </a:pPr>
            <a:r>
              <a:t>Questions &amp;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